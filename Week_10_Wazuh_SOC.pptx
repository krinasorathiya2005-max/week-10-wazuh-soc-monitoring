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909560" y="0"/>
            <a:ext cx="4279392" cy="6858000"/>
          </a:xfrm>
          <a:prstGeom prst="rect">
            <a:avLst/>
          </a:prstGeom>
          <a:solidFill>
            <a:srgbClr val="10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1143000"/>
            <a:ext cx="292608" cy="292608"/>
          </a:xfrm>
          <a:prstGeom prst="ellipse">
            <a:avLst/>
          </a:prstGeom>
          <a:solidFill>
            <a:srgbClr val="24B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07040" y="1828800"/>
            <a:ext cx="219456" cy="219456"/>
          </a:xfrm>
          <a:prstGeom prst="ellipse">
            <a:avLst/>
          </a:prstGeom>
          <a:solidFill>
            <a:srgbClr val="2D7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509760" y="3154680"/>
            <a:ext cx="329184" cy="329184"/>
          </a:xfrm>
          <a:prstGeom prst="ellipse">
            <a:avLst/>
          </a:prstGeom>
          <a:solidFill>
            <a:srgbClr val="37C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064240" y="4297680"/>
            <a:ext cx="274320" cy="274320"/>
          </a:xfrm>
          <a:prstGeom prst="ellipse">
            <a:avLst/>
          </a:prstGeom>
          <a:solidFill>
            <a:srgbClr val="9C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503920" y="5257800"/>
            <a:ext cx="219456" cy="219456"/>
          </a:xfrm>
          <a:prstGeom prst="ellipse">
            <a:avLst/>
          </a:prstGeom>
          <a:solidFill>
            <a:srgbClr val="FFB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8823960" y="1280160"/>
            <a:ext cx="1874520" cy="640080"/>
          </a:xfrm>
          <a:prstGeom prst="line">
            <a:avLst/>
          </a:prstGeom>
          <a:ln w="17780">
            <a:solidFill>
              <a:srgbClr val="3755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9646920" y="1920240"/>
            <a:ext cx="1051560" cy="1371600"/>
          </a:xfrm>
          <a:prstGeom prst="line">
            <a:avLst/>
          </a:prstGeom>
          <a:ln w="17780">
            <a:solidFill>
              <a:srgbClr val="3755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9646920" y="3291840"/>
            <a:ext cx="1508760" cy="1143000"/>
          </a:xfrm>
          <a:prstGeom prst="line">
            <a:avLst/>
          </a:prstGeom>
          <a:ln w="17780">
            <a:solidFill>
              <a:srgbClr val="3755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8641080" y="3291840"/>
            <a:ext cx="1005840" cy="2057400"/>
          </a:xfrm>
          <a:prstGeom prst="line">
            <a:avLst/>
          </a:prstGeom>
          <a:ln w="17780">
            <a:solidFill>
              <a:srgbClr val="3755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31520" y="777240"/>
            <a:ext cx="63093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24BEE6"/>
                </a:solidFill>
                <a:latin typeface="Aptos"/>
              </a:rPr>
              <a:t>CYBER SECURITY INTERNSHIP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508760"/>
            <a:ext cx="6309360" cy="7772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200" b="1">
                <a:solidFill>
                  <a:srgbClr val="F0F6FC"/>
                </a:solidFill>
                <a:latin typeface="Aptos"/>
              </a:rPr>
              <a:t>WEEK 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2423160"/>
            <a:ext cx="6492240" cy="7315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F0F6FC"/>
                </a:solidFill>
                <a:latin typeface="Aptos"/>
              </a:rPr>
              <a:t>SOC Monitoring with Wazuh SIEM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" y="3246120"/>
            <a:ext cx="649224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A5B7CC"/>
                </a:solidFill>
                <a:latin typeface="Aptos"/>
              </a:rPr>
              <a:t>Endpoint telemetry  •  Alert triage  •  Investigation  •  Snort context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8" y="4617720"/>
            <a:ext cx="3063240" cy="914400"/>
          </a:xfrm>
          <a:prstGeom prst="roundRect">
            <a:avLst/>
          </a:prstGeom>
          <a:solidFill>
            <a:srgbClr val="102035"/>
          </a:solidFill>
          <a:ln>
            <a:solidFill>
              <a:srgbClr val="24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9808" y="4764024"/>
            <a:ext cx="54864" cy="621792"/>
          </a:xfrm>
          <a:prstGeom prst="rect">
            <a:avLst/>
          </a:prstGeom>
          <a:solidFill>
            <a:srgbClr val="24B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0976" y="4782312"/>
            <a:ext cx="26974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24BEE6"/>
                </a:solidFill>
                <a:latin typeface="Aptos"/>
              </a:rPr>
              <a:t>PRIMARY PLATFORM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6" y="5184648"/>
            <a:ext cx="267919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F0F6FC"/>
                </a:solidFill>
                <a:latin typeface="Aptos"/>
              </a:rPr>
              <a:t>Wazuh 4.8.1 dashboard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005072" y="4617720"/>
            <a:ext cx="3063240" cy="914400"/>
          </a:xfrm>
          <a:prstGeom prst="roundRect">
            <a:avLst/>
          </a:prstGeom>
          <a:solidFill>
            <a:srgbClr val="102035"/>
          </a:solidFill>
          <a:ln>
            <a:solidFill>
              <a:srgbClr val="24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005072" y="4764024"/>
            <a:ext cx="54864" cy="621792"/>
          </a:xfrm>
          <a:prstGeom prst="rect">
            <a:avLst/>
          </a:prstGeom>
          <a:solidFill>
            <a:srgbClr val="37C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06240" y="4782312"/>
            <a:ext cx="26974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37C991"/>
                </a:solidFill>
                <a:latin typeface="Aptos"/>
              </a:rPr>
              <a:t>LAB CONTEXT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06240" y="5184648"/>
            <a:ext cx="267919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F0F6FC"/>
                </a:solidFill>
                <a:latin typeface="Aptos"/>
              </a:rPr>
              <a:t>Ubuntu server + Windows agent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080760"/>
            <a:ext cx="65836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A5B7CC"/>
                </a:solidFill>
                <a:latin typeface="Aptos"/>
              </a:rPr>
              <a:t>Technical internship presentation  | 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F0F6FC"/>
                </a:solidFill>
                <a:latin typeface="Aptos"/>
              </a:rPr>
              <a:t>Executive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87552"/>
            <a:ext cx="1051560" cy="50292"/>
          </a:xfrm>
          <a:prstGeom prst="rect">
            <a:avLst/>
          </a:prstGeom>
          <a:solidFill>
            <a:srgbClr val="24B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281160" y="438912"/>
            <a:ext cx="22860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>
                <a:solidFill>
                  <a:srgbClr val="24BEE6"/>
                </a:solidFill>
                <a:latin typeface="Aptos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547104"/>
            <a:ext cx="109728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A5B7CC"/>
                </a:solidFill>
                <a:latin typeface="Aptos"/>
              </a:rPr>
              <a:t>WEEK 10  •  SOC MONITORING                                      02 /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25880"/>
            <a:ext cx="10789920" cy="7315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F0F6FC"/>
                </a:solidFill>
                <a:latin typeface="Aptos"/>
              </a:rPr>
              <a:t>Week 10 validates the analyst workflow: collect telemetry, review detections, investigate evidence, and recommend a proportionate response.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423160"/>
            <a:ext cx="3429000" cy="1325880"/>
          </a:xfrm>
          <a:prstGeom prst="roundRect">
            <a:avLst/>
          </a:prstGeom>
          <a:solidFill>
            <a:srgbClr val="102035"/>
          </a:solidFill>
          <a:ln>
            <a:solidFill>
              <a:srgbClr val="24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569464"/>
            <a:ext cx="54864" cy="1033271"/>
          </a:xfrm>
          <a:prstGeom prst="rect">
            <a:avLst/>
          </a:prstGeom>
          <a:solidFill>
            <a:srgbClr val="24B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587752"/>
            <a:ext cx="30632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24BEE6"/>
                </a:solidFill>
                <a:latin typeface="Aptos"/>
              </a:rPr>
              <a:t>01  MONITOR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990088"/>
            <a:ext cx="3044952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F0F6FC"/>
                </a:solidFill>
                <a:latin typeface="Aptos"/>
              </a:rPr>
              <a:t>Confirm the Wazuh dashboard and endpoint agent are available.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2423160"/>
            <a:ext cx="3429000" cy="1325880"/>
          </a:xfrm>
          <a:prstGeom prst="roundRect">
            <a:avLst/>
          </a:prstGeom>
          <a:solidFill>
            <a:srgbClr val="102035"/>
          </a:solidFill>
          <a:ln>
            <a:solidFill>
              <a:srgbClr val="24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70832" y="2569464"/>
            <a:ext cx="54864" cy="1033271"/>
          </a:xfrm>
          <a:prstGeom prst="rect">
            <a:avLst/>
          </a:prstGeom>
          <a:solidFill>
            <a:srgbClr val="2D7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2587752"/>
            <a:ext cx="30632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2D7CEB"/>
                </a:solidFill>
                <a:latin typeface="Aptos"/>
              </a:rPr>
              <a:t>02  INVESTIGATE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990088"/>
            <a:ext cx="3044952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F0F6FC"/>
                </a:solidFill>
                <a:latin typeface="Aptos"/>
              </a:rPr>
              <a:t>Review alert time, rule, agent, source/destination and severity.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2423160"/>
            <a:ext cx="3429000" cy="1325880"/>
          </a:xfrm>
          <a:prstGeom prst="roundRect">
            <a:avLst/>
          </a:prstGeom>
          <a:solidFill>
            <a:srgbClr val="102035"/>
          </a:solidFill>
          <a:ln>
            <a:solidFill>
              <a:srgbClr val="24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2569464"/>
            <a:ext cx="54864" cy="1033271"/>
          </a:xfrm>
          <a:prstGeom prst="rect">
            <a:avLst/>
          </a:prstGeom>
          <a:solidFill>
            <a:srgbClr val="37C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7888" y="2587752"/>
            <a:ext cx="30632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37C991"/>
                </a:solidFill>
                <a:latin typeface="Aptos"/>
              </a:rPr>
              <a:t>03  RESPOND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2990088"/>
            <a:ext cx="3044952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F0F6FC"/>
                </a:solidFill>
                <a:latin typeface="Aptos"/>
              </a:rPr>
              <a:t>Validate context before containment; document recovery and lessons.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4251960"/>
            <a:ext cx="18288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B84D"/>
                </a:solidFill>
                <a:latin typeface="Aptos"/>
              </a:rPr>
              <a:t>Key principle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4617720"/>
            <a:ext cx="1051560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F0F6FC"/>
                </a:solidFill>
                <a:latin typeface="Aptos"/>
              </a:rPr>
              <a:t>An alert is a signal to investigate—not automatic proof of compromise.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" y="5715000"/>
            <a:ext cx="104241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A5B7CC"/>
                </a:solidFill>
                <a:latin typeface="Aptos"/>
              </a:rPr>
              <a:t>Scope: authorized virtual lab; event interpretation remains evidence-led.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F0F6FC"/>
                </a:solidFill>
                <a:latin typeface="Aptos"/>
              </a:rPr>
              <a:t>Objectives &amp; Learning Outcomes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87552"/>
            <a:ext cx="1051560" cy="50292"/>
          </a:xfrm>
          <a:prstGeom prst="rect">
            <a:avLst/>
          </a:prstGeom>
          <a:solidFill>
            <a:srgbClr val="24B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281160" y="438912"/>
            <a:ext cx="22860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>
                <a:solidFill>
                  <a:srgbClr val="24BEE6"/>
                </a:solidFill>
                <a:latin typeface="Aptos"/>
              </a:rPr>
              <a:t>LEARNING GOALS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547104"/>
            <a:ext cx="109728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A5B7CC"/>
                </a:solidFill>
                <a:latin typeface="Aptos"/>
              </a:rPr>
              <a:t>WEEK 10  •  SOC MONITORING                                      03 /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71600"/>
            <a:ext cx="6492240" cy="429768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0F6FC"/>
                </a:solidFill>
                <a:latin typeface="Aptos"/>
              </a:defRPr>
            </a:pPr>
            <a:r>
              <a:t>•  Understand Wazuh components and the role of centralized security monitoring.</a:t>
            </a:r>
          </a:p>
          <a:p>
            <a:pPr>
              <a:spcAft>
                <a:spcPts val="1200"/>
              </a:spcAft>
              <a:defRPr sz="1800">
                <a:solidFill>
                  <a:srgbClr val="F0F6FC"/>
                </a:solidFill>
                <a:latin typeface="Aptos"/>
              </a:defRPr>
            </a:pPr>
            <a:r>
              <a:t>•  Verify the Linux server, dashboard access and agent-to-manager communication.</a:t>
            </a:r>
          </a:p>
          <a:p>
            <a:pPr>
              <a:spcAft>
                <a:spcPts val="1200"/>
              </a:spcAft>
              <a:defRPr sz="1800">
                <a:solidFill>
                  <a:srgbClr val="F0F6FC"/>
                </a:solidFill>
                <a:latin typeface="Aptos"/>
              </a:defRPr>
            </a:pPr>
            <a:r>
              <a:t>•  Generate controlled authentication, file and network activity in the lab.</a:t>
            </a:r>
          </a:p>
          <a:p>
            <a:pPr>
              <a:spcAft>
                <a:spcPts val="1200"/>
              </a:spcAft>
              <a:defRPr sz="1800">
                <a:solidFill>
                  <a:srgbClr val="F0F6FC"/>
                </a:solidFill>
                <a:latin typeface="Aptos"/>
              </a:defRPr>
            </a:pPr>
            <a:r>
              <a:t>•  Record real alerts and investigate one high-interest event.</a:t>
            </a:r>
          </a:p>
          <a:p>
            <a:pPr>
              <a:spcAft>
                <a:spcPts val="1200"/>
              </a:spcAft>
              <a:defRPr sz="1800">
                <a:solidFill>
                  <a:srgbClr val="F0F6FC"/>
                </a:solidFill>
                <a:latin typeface="Aptos"/>
              </a:defRPr>
            </a:pPr>
            <a:r>
              <a:t>•  Explain how network IDS evidence from Snort can complement endpoint telemetry.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26679" y="1508760"/>
            <a:ext cx="3520440" cy="1051560"/>
          </a:xfrm>
          <a:prstGeom prst="roundRect">
            <a:avLst/>
          </a:prstGeom>
          <a:solidFill>
            <a:srgbClr val="102035"/>
          </a:solidFill>
          <a:ln>
            <a:solidFill>
              <a:srgbClr val="24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26679" y="1655063"/>
            <a:ext cx="54864" cy="758951"/>
          </a:xfrm>
          <a:prstGeom prst="rect">
            <a:avLst/>
          </a:prstGeom>
          <a:solidFill>
            <a:srgbClr val="24B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27848" y="1673351"/>
            <a:ext cx="31546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24BEE6"/>
                </a:solidFill>
                <a:latin typeface="Aptos"/>
              </a:rPr>
              <a:t>TECHNICAL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27848" y="2075688"/>
            <a:ext cx="3136392" cy="36575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F0F6FC"/>
                </a:solidFill>
                <a:latin typeface="Aptos"/>
              </a:rPr>
              <a:t>Logs, rules, agents, dashboards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26679" y="2743200"/>
            <a:ext cx="3520440" cy="1051560"/>
          </a:xfrm>
          <a:prstGeom prst="roundRect">
            <a:avLst/>
          </a:prstGeom>
          <a:solidFill>
            <a:srgbClr val="102035"/>
          </a:solidFill>
          <a:ln>
            <a:solidFill>
              <a:srgbClr val="24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26679" y="2889504"/>
            <a:ext cx="54864" cy="758951"/>
          </a:xfrm>
          <a:prstGeom prst="rect">
            <a:avLst/>
          </a:prstGeom>
          <a:solidFill>
            <a:srgbClr val="2D7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27848" y="2907792"/>
            <a:ext cx="31546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2D7CEB"/>
                </a:solidFill>
                <a:latin typeface="Aptos"/>
              </a:rPr>
              <a:t>ANALYTICAL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27848" y="3310128"/>
            <a:ext cx="3136392" cy="36575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F0F6FC"/>
                </a:solidFill>
                <a:latin typeface="Aptos"/>
              </a:rPr>
              <a:t>Triage, timelines, evidence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26679" y="3977639"/>
            <a:ext cx="3520440" cy="1051560"/>
          </a:xfrm>
          <a:prstGeom prst="roundRect">
            <a:avLst/>
          </a:prstGeom>
          <a:solidFill>
            <a:srgbClr val="102035"/>
          </a:solidFill>
          <a:ln>
            <a:solidFill>
              <a:srgbClr val="24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26679" y="4123944"/>
            <a:ext cx="54864" cy="758951"/>
          </a:xfrm>
          <a:prstGeom prst="rect">
            <a:avLst/>
          </a:prstGeom>
          <a:solidFill>
            <a:srgbClr val="37C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27848" y="4142231"/>
            <a:ext cx="31546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37C991"/>
                </a:solidFill>
                <a:latin typeface="Aptos"/>
              </a:rPr>
              <a:t>COMMUNICATION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27848" y="4544568"/>
            <a:ext cx="3136392" cy="36575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F0F6FC"/>
                </a:solidFill>
                <a:latin typeface="Aptos"/>
              </a:rPr>
              <a:t>Clear findings and response notes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F0F6FC"/>
                </a:solidFill>
                <a:latin typeface="Aptos"/>
              </a:rPr>
              <a:t>Wazuh Architecture &amp; Event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87552"/>
            <a:ext cx="1051560" cy="50292"/>
          </a:xfrm>
          <a:prstGeom prst="rect">
            <a:avLst/>
          </a:prstGeom>
          <a:solidFill>
            <a:srgbClr val="24B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281160" y="438912"/>
            <a:ext cx="22860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>
                <a:solidFill>
                  <a:srgbClr val="24BEE6"/>
                </a:solidFill>
                <a:latin typeface="Aptos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547104"/>
            <a:ext cx="109728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A5B7CC"/>
                </a:solidFill>
                <a:latin typeface="Aptos"/>
              </a:rPr>
              <a:t>WEEK 10  •  SOC MONITORING                                      04 / 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828800"/>
            <a:ext cx="2057400" cy="1828800"/>
          </a:xfrm>
          <a:prstGeom prst="roundRect">
            <a:avLst/>
          </a:prstGeom>
          <a:solidFill>
            <a:srgbClr val="102035"/>
          </a:solidFill>
          <a:ln>
            <a:solidFill>
              <a:srgbClr val="24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975104"/>
            <a:ext cx="54864" cy="1536192"/>
          </a:xfrm>
          <a:prstGeom prst="rect">
            <a:avLst/>
          </a:prstGeom>
          <a:solidFill>
            <a:srgbClr val="2D7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993392"/>
            <a:ext cx="16916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2D7CEB"/>
                </a:solidFill>
                <a:latin typeface="Aptos"/>
              </a:rPr>
              <a:t>01  TEST ENDPOINT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2395728"/>
            <a:ext cx="1673352" cy="11430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F0F6FC"/>
                </a:solidFill>
                <a:latin typeface="Aptos"/>
              </a:rPr>
              <a:t>Generates system and security activity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2468880"/>
            <a:ext cx="25603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24BEE6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26079" y="1828800"/>
            <a:ext cx="2057400" cy="1828800"/>
          </a:xfrm>
          <a:prstGeom prst="roundRect">
            <a:avLst/>
          </a:prstGeom>
          <a:solidFill>
            <a:srgbClr val="102035"/>
          </a:solidFill>
          <a:ln>
            <a:solidFill>
              <a:srgbClr val="24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926079" y="1975104"/>
            <a:ext cx="54864" cy="1536192"/>
          </a:xfrm>
          <a:prstGeom prst="rect">
            <a:avLst/>
          </a:prstGeom>
          <a:solidFill>
            <a:srgbClr val="24B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27248" y="1993392"/>
            <a:ext cx="16916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24BEE6"/>
                </a:solidFill>
                <a:latin typeface="Aptos"/>
              </a:rPr>
              <a:t>02  WAZUH AGENT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27248" y="2395728"/>
            <a:ext cx="1673352" cy="11430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F0F6FC"/>
                </a:solidFill>
                <a:latin typeface="Aptos"/>
              </a:rPr>
              <a:t>Collects configured host telemetry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83479" y="2468880"/>
            <a:ext cx="25603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24BEE6"/>
                </a:solidFill>
                <a:latin typeface="Apto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57800" y="1828800"/>
            <a:ext cx="2057400" cy="1828800"/>
          </a:xfrm>
          <a:prstGeom prst="roundRect">
            <a:avLst/>
          </a:prstGeom>
          <a:solidFill>
            <a:srgbClr val="102035"/>
          </a:solidFill>
          <a:ln>
            <a:solidFill>
              <a:srgbClr val="24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257800" y="1975104"/>
            <a:ext cx="54864" cy="1536192"/>
          </a:xfrm>
          <a:prstGeom prst="rect">
            <a:avLst/>
          </a:prstGeom>
          <a:solidFill>
            <a:srgbClr val="9C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58968" y="1993392"/>
            <a:ext cx="16916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9C78FF"/>
                </a:solidFill>
                <a:latin typeface="Aptos"/>
              </a:rPr>
              <a:t>03  WAZUH MANAGER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58968" y="2395728"/>
            <a:ext cx="1673352" cy="11430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F0F6FC"/>
                </a:solidFill>
                <a:latin typeface="Aptos"/>
              </a:rPr>
              <a:t>Decodes events and applies rules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2468880"/>
            <a:ext cx="25603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24BEE6"/>
                </a:solidFill>
                <a:latin typeface="Apto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89519" y="1828800"/>
            <a:ext cx="2057400" cy="1828800"/>
          </a:xfrm>
          <a:prstGeom prst="roundRect">
            <a:avLst/>
          </a:prstGeom>
          <a:solidFill>
            <a:srgbClr val="102035"/>
          </a:solidFill>
          <a:ln>
            <a:solidFill>
              <a:srgbClr val="24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589519" y="1975104"/>
            <a:ext cx="54864" cy="1536192"/>
          </a:xfrm>
          <a:prstGeom prst="rect">
            <a:avLst/>
          </a:prstGeom>
          <a:solidFill>
            <a:srgbClr val="37C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90688" y="1993392"/>
            <a:ext cx="16916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37C991"/>
                </a:solidFill>
                <a:latin typeface="Aptos"/>
              </a:rPr>
              <a:t>04  DASHBOARD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90688" y="2395728"/>
            <a:ext cx="1673352" cy="11430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F0F6FC"/>
                </a:solidFill>
                <a:latin typeface="Aptos"/>
              </a:rPr>
              <a:t>Searches, filters and visualizes alerts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46919" y="2468880"/>
            <a:ext cx="25603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24BEE6"/>
                </a:solidFill>
                <a:latin typeface="Aptos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921240" y="1828800"/>
            <a:ext cx="2057400" cy="1828800"/>
          </a:xfrm>
          <a:prstGeom prst="roundRect">
            <a:avLst/>
          </a:prstGeom>
          <a:solidFill>
            <a:srgbClr val="102035"/>
          </a:solidFill>
          <a:ln>
            <a:solidFill>
              <a:srgbClr val="24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921240" y="1975104"/>
            <a:ext cx="54864" cy="1536192"/>
          </a:xfrm>
          <a:prstGeom prst="rect">
            <a:avLst/>
          </a:prstGeom>
          <a:solidFill>
            <a:srgbClr val="FFB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122408" y="1993392"/>
            <a:ext cx="16916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FB84D"/>
                </a:solidFill>
                <a:latin typeface="Aptos"/>
              </a:rPr>
              <a:t>05  SOC ANALYST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22408" y="2395728"/>
            <a:ext cx="1673352" cy="11430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F0F6FC"/>
                </a:solidFill>
                <a:latin typeface="Aptos"/>
              </a:rPr>
              <a:t>Validates, prioritizes and responds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4663440"/>
            <a:ext cx="1078992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A5B7CC"/>
                </a:solidFill>
                <a:latin typeface="Aptos"/>
              </a:rPr>
              <a:t>Troubleshooting follows the same chain: endpoint activity → collection → manager processing → dashboard visibility.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5486400"/>
            <a:ext cx="1078992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0F6FC"/>
                </a:solidFill>
                <a:latin typeface="Aptos"/>
              </a:rPr>
              <a:t>If an event is missing, verify each stage rather than assuming detection is broken.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F0F6FC"/>
                </a:solidFill>
                <a:latin typeface="Aptos"/>
              </a:rPr>
              <a:t>Wazuh SIEM vs Snort IDS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87552"/>
            <a:ext cx="1051560" cy="50292"/>
          </a:xfrm>
          <a:prstGeom prst="rect">
            <a:avLst/>
          </a:prstGeom>
          <a:solidFill>
            <a:srgbClr val="24B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281160" y="438912"/>
            <a:ext cx="22860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>
                <a:solidFill>
                  <a:srgbClr val="24BEE6"/>
                </a:solidFill>
                <a:latin typeface="Aptos"/>
              </a:rPr>
              <a:t>DETECTION ROLES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547104"/>
            <a:ext cx="109728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A5B7CC"/>
                </a:solidFill>
                <a:latin typeface="Aptos"/>
              </a:rPr>
              <a:t>WEEK 10  •  SOC MONITORING                                      05 / 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5212080" cy="3337560"/>
          </a:xfrm>
          <a:prstGeom prst="roundRect">
            <a:avLst/>
          </a:prstGeom>
          <a:solidFill>
            <a:srgbClr val="102035"/>
          </a:solidFill>
          <a:ln>
            <a:solidFill>
              <a:srgbClr val="24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55063"/>
            <a:ext cx="54864" cy="3044952"/>
          </a:xfrm>
          <a:prstGeom prst="rect">
            <a:avLst/>
          </a:prstGeom>
          <a:solidFill>
            <a:srgbClr val="24B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673351"/>
            <a:ext cx="48463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24BEE6"/>
                </a:solidFill>
                <a:latin typeface="Aptos"/>
              </a:rPr>
              <a:t>WAZUH  |  ENDPOINT + CENTRAL 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075688"/>
            <a:ext cx="4828032" cy="2651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F0F6FC"/>
                </a:solidFill>
                <a:latin typeface="Aptos"/>
              </a:rPr>
              <a:t>• Endpoint logs and authentication activity
• File integrity monitoring (when configured)
• Agent, rule and alert context
• Centralized investigation workspace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508760"/>
            <a:ext cx="5212080" cy="3337560"/>
          </a:xfrm>
          <a:prstGeom prst="roundRect">
            <a:avLst/>
          </a:prstGeom>
          <a:solidFill>
            <a:srgbClr val="102035"/>
          </a:solidFill>
          <a:ln>
            <a:solidFill>
              <a:srgbClr val="24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655063"/>
            <a:ext cx="54864" cy="3044952"/>
          </a:xfrm>
          <a:prstGeom prst="rect">
            <a:avLst/>
          </a:prstGeom>
          <a:solidFill>
            <a:srgbClr val="9C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7" y="1673351"/>
            <a:ext cx="48463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9C78FF"/>
                </a:solidFill>
                <a:latin typeface="Aptos"/>
              </a:rPr>
              <a:t>SNORT  |  NETWORK 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7" y="2075688"/>
            <a:ext cx="4828032" cy="2651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F0F6FC"/>
                </a:solidFill>
                <a:latin typeface="Aptos"/>
              </a:rPr>
              <a:t>• Network packets and traffic patterns
• Signature/rule-based detection
• Source, destination, port and protocol context
• Network-focused security alerts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349240"/>
            <a:ext cx="1051560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F0F6FC"/>
                </a:solidFill>
                <a:latin typeface="Aptos"/>
              </a:rPr>
              <a:t>Together, these perspectives can strengthen a timeline—but only when event details genuinely match.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F0F6FC"/>
                </a:solidFill>
                <a:latin typeface="Aptos"/>
              </a:rPr>
              <a:t>Lab Environment &amp; Setup Verification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87552"/>
            <a:ext cx="1051560" cy="50292"/>
          </a:xfrm>
          <a:prstGeom prst="rect">
            <a:avLst/>
          </a:prstGeom>
          <a:solidFill>
            <a:srgbClr val="24B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281160" y="438912"/>
            <a:ext cx="22860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>
                <a:solidFill>
                  <a:srgbClr val="24BEE6"/>
                </a:solidFill>
                <a:latin typeface="Aptos"/>
              </a:rPr>
              <a:t>ENVIRONMENT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547104"/>
            <a:ext cx="109728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A5B7CC"/>
                </a:solidFill>
                <a:latin typeface="Aptos"/>
              </a:rPr>
              <a:t>WEEK 10  •  SOC MONITORING                                      06 / 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71600"/>
            <a:ext cx="3840480" cy="1920240"/>
          </a:xfrm>
          <a:prstGeom prst="roundRect">
            <a:avLst/>
          </a:prstGeom>
          <a:solidFill>
            <a:srgbClr val="102035"/>
          </a:solidFill>
          <a:ln>
            <a:solidFill>
              <a:srgbClr val="24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517904"/>
            <a:ext cx="54864" cy="1627632"/>
          </a:xfrm>
          <a:prstGeom prst="rect">
            <a:avLst/>
          </a:prstGeom>
          <a:solidFill>
            <a:srgbClr val="24B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536192"/>
            <a:ext cx="34747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24BEE6"/>
                </a:solidFill>
                <a:latin typeface="Aptos"/>
              </a:rPr>
              <a:t>WAZUH SERVER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1938528"/>
            <a:ext cx="3456432" cy="12344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F0F6FC"/>
                </a:solidFill>
                <a:latin typeface="Aptos"/>
              </a:rPr>
              <a:t>Ubuntu 22.04.5 LTS
Hostname: wazuh-server
Wazuh version: 4.8.1 (dashboard)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0" y="1371600"/>
            <a:ext cx="2926080" cy="1920240"/>
          </a:xfrm>
          <a:prstGeom prst="roundRect">
            <a:avLst/>
          </a:prstGeom>
          <a:solidFill>
            <a:srgbClr val="102035"/>
          </a:solidFill>
          <a:ln>
            <a:solidFill>
              <a:srgbClr val="24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54880" y="1517904"/>
            <a:ext cx="54864" cy="1627632"/>
          </a:xfrm>
          <a:prstGeom prst="rect">
            <a:avLst/>
          </a:prstGeom>
          <a:solidFill>
            <a:srgbClr val="2D7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56048" y="1536192"/>
            <a:ext cx="25603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2D7CEB"/>
                </a:solidFill>
                <a:latin typeface="Aptos"/>
              </a:rPr>
              <a:t>RESOURCES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56048" y="1938528"/>
            <a:ext cx="2542032" cy="12344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F0F6FC"/>
                </a:solidFill>
                <a:latin typeface="Aptos"/>
              </a:rPr>
              <a:t>4 CPU threads
7.7 GiB RAM
50 GB disk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09560" y="1371600"/>
            <a:ext cx="3520440" cy="1920240"/>
          </a:xfrm>
          <a:prstGeom prst="roundRect">
            <a:avLst/>
          </a:prstGeom>
          <a:solidFill>
            <a:srgbClr val="102035"/>
          </a:solidFill>
          <a:ln>
            <a:solidFill>
              <a:srgbClr val="24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09560" y="1517904"/>
            <a:ext cx="54864" cy="1627632"/>
          </a:xfrm>
          <a:prstGeom prst="rect">
            <a:avLst/>
          </a:prstGeom>
          <a:solidFill>
            <a:srgbClr val="37C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10728" y="1536192"/>
            <a:ext cx="31546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37C991"/>
                </a:solidFill>
                <a:latin typeface="Aptos"/>
              </a:rPr>
              <a:t>VALIDATION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10728" y="1938528"/>
            <a:ext cx="3136392" cy="12344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F0F6FC"/>
                </a:solidFill>
                <a:latin typeface="Aptos"/>
              </a:rPr>
              <a:t>Dashboard reachable
Services checked
Agent status visible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448305" y="3671315"/>
            <a:ext cx="3424428" cy="2304288"/>
          </a:xfrm>
          <a:prstGeom prst="roundRect">
            <a:avLst/>
          </a:prstGeom>
          <a:solidFill>
            <a:srgbClr val="162B44"/>
          </a:solidFill>
          <a:ln>
            <a:solidFill>
              <a:srgbClr val="324B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0309" y="3703320"/>
            <a:ext cx="3360420" cy="224028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726679" y="4069080"/>
            <a:ext cx="3566160" cy="1417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B84D"/>
                </a:solidFill>
                <a:latin typeface="Aptos"/>
              </a:rPr>
              <a:t>Evidence note: use the actual lab screenshot for final submission; do not substitute a mockup for live evidence.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F0F6FC"/>
                </a:solidFill>
                <a:latin typeface="Aptos"/>
              </a:rPr>
              <a:t>Final SOC Dashboard — Summary Metrics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87552"/>
            <a:ext cx="1051560" cy="50292"/>
          </a:xfrm>
          <a:prstGeom prst="rect">
            <a:avLst/>
          </a:prstGeom>
          <a:solidFill>
            <a:srgbClr val="24B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281160" y="438912"/>
            <a:ext cx="22860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>
                <a:solidFill>
                  <a:srgbClr val="24BEE6"/>
                </a:solidFill>
                <a:latin typeface="Aptos"/>
              </a:rPr>
              <a:t>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547104"/>
            <a:ext cx="109728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A5B7CC"/>
                </a:solidFill>
                <a:latin typeface="Aptos"/>
              </a:rPr>
              <a:t>WEEK 10  •  SOC MONITORING                                      07 / 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2514600" cy="1143000"/>
          </a:xfrm>
          <a:prstGeom prst="roundRect">
            <a:avLst/>
          </a:prstGeom>
          <a:solidFill>
            <a:srgbClr val="102035"/>
          </a:solidFill>
          <a:ln>
            <a:solidFill>
              <a:srgbClr val="24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36192"/>
            <a:ext cx="224028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24BEE6"/>
                </a:solidFill>
                <a:latin typeface="Aptos"/>
              </a:rPr>
              <a:t>1,842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57400"/>
            <a:ext cx="22402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A5B7CC"/>
                </a:solidFill>
                <a:latin typeface="Aptos"/>
              </a:rPr>
              <a:t>TOTAL EVENTS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1371600"/>
            <a:ext cx="2514600" cy="1143000"/>
          </a:xfrm>
          <a:prstGeom prst="roundRect">
            <a:avLst/>
          </a:prstGeom>
          <a:solidFill>
            <a:srgbClr val="102035"/>
          </a:solidFill>
          <a:ln>
            <a:solidFill>
              <a:srgbClr val="24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03320" y="1536192"/>
            <a:ext cx="224028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5B69"/>
                </a:solidFill>
                <a:latin typeface="Aptos"/>
              </a:rPr>
              <a:t>156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2057400"/>
            <a:ext cx="22402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A5B7CC"/>
                </a:solidFill>
                <a:latin typeface="Aptos"/>
              </a:rPr>
              <a:t>ALERTS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371600"/>
            <a:ext cx="2514600" cy="1143000"/>
          </a:xfrm>
          <a:prstGeom prst="roundRect">
            <a:avLst/>
          </a:prstGeom>
          <a:solidFill>
            <a:srgbClr val="102035"/>
          </a:solidFill>
          <a:ln>
            <a:solidFill>
              <a:srgbClr val="24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1536192"/>
            <a:ext cx="224028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2D7CEB"/>
                </a:solidFill>
                <a:latin typeface="Aptos"/>
              </a:rPr>
              <a:t>78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057400"/>
            <a:ext cx="22402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A5B7CC"/>
                </a:solidFill>
                <a:latin typeface="Aptos"/>
              </a:rPr>
              <a:t>RULES FIRED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35440" y="1371600"/>
            <a:ext cx="2514600" cy="1143000"/>
          </a:xfrm>
          <a:prstGeom prst="roundRect">
            <a:avLst/>
          </a:prstGeom>
          <a:solidFill>
            <a:srgbClr val="102035"/>
          </a:solidFill>
          <a:ln>
            <a:solidFill>
              <a:srgbClr val="24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72600" y="1536192"/>
            <a:ext cx="224028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37C991"/>
                </a:solidFill>
                <a:latin typeface="Aptos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72600" y="2057400"/>
            <a:ext cx="22402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A5B7CC"/>
                </a:solidFill>
                <a:latin typeface="Aptos"/>
              </a:rPr>
              <a:t>ACTIVE AGENT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46085" y="2756915"/>
            <a:ext cx="5669348" cy="3218688"/>
          </a:xfrm>
          <a:prstGeom prst="roundRect">
            <a:avLst/>
          </a:prstGeom>
          <a:solidFill>
            <a:srgbClr val="162B44"/>
          </a:solidFill>
          <a:ln>
            <a:solidFill>
              <a:srgbClr val="324B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8089" y="2788920"/>
            <a:ext cx="5605340" cy="315468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22960" y="6053328"/>
            <a:ext cx="10515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A5B7CC"/>
                </a:solidFill>
                <a:latin typeface="Aptos"/>
              </a:rPr>
              <a:t>Snapshot values must be tied to the selected dashboard time range (Last 24 hours).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F0F6FC"/>
                </a:solidFill>
                <a:latin typeface="Aptos"/>
              </a:rPr>
              <a:t>Alert Severity &amp; Prioritization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87552"/>
            <a:ext cx="1051560" cy="50292"/>
          </a:xfrm>
          <a:prstGeom prst="rect">
            <a:avLst/>
          </a:prstGeom>
          <a:solidFill>
            <a:srgbClr val="24B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281160" y="438912"/>
            <a:ext cx="22860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>
                <a:solidFill>
                  <a:srgbClr val="24BEE6"/>
                </a:solidFill>
                <a:latin typeface="Aptos"/>
              </a:rPr>
              <a:t>TRIAGE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547104"/>
            <a:ext cx="109728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A5B7CC"/>
                </a:solidFill>
                <a:latin typeface="Aptos"/>
              </a:rPr>
              <a:t>WEEK 10  •  SOC MONITORING                                      08 / 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508760"/>
            <a:ext cx="2468880" cy="1371600"/>
          </a:xfrm>
          <a:prstGeom prst="roundRect">
            <a:avLst/>
          </a:prstGeom>
          <a:solidFill>
            <a:srgbClr val="102035"/>
          </a:solidFill>
          <a:ln>
            <a:solidFill>
              <a:srgbClr val="24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55063"/>
            <a:ext cx="54864" cy="1078992"/>
          </a:xfrm>
          <a:prstGeom prst="rect">
            <a:avLst/>
          </a:prstGeom>
          <a:solidFill>
            <a:srgbClr val="FF5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1673351"/>
            <a:ext cx="21031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F5B69"/>
                </a:solidFill>
                <a:latin typeface="Aptos"/>
              </a:rPr>
              <a:t>CRITICAL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075688"/>
            <a:ext cx="2084832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F0F6FC"/>
                </a:solidFill>
                <a:latin typeface="Aptos"/>
              </a:rPr>
              <a:t>12 alerts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11880" y="1508760"/>
            <a:ext cx="2468880" cy="1371600"/>
          </a:xfrm>
          <a:prstGeom prst="roundRect">
            <a:avLst/>
          </a:prstGeom>
          <a:solidFill>
            <a:srgbClr val="102035"/>
          </a:solidFill>
          <a:ln>
            <a:solidFill>
              <a:srgbClr val="24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11880" y="1655063"/>
            <a:ext cx="54864" cy="1078992"/>
          </a:xfrm>
          <a:prstGeom prst="rect">
            <a:avLst/>
          </a:prstGeom>
          <a:solidFill>
            <a:srgbClr val="FFB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13048" y="1673351"/>
            <a:ext cx="21031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FB84D"/>
                </a:solidFill>
                <a:latin typeface="Aptos"/>
              </a:rPr>
              <a:t>HIGH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13048" y="2075688"/>
            <a:ext cx="2084832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F0F6FC"/>
                </a:solidFill>
                <a:latin typeface="Aptos"/>
              </a:rPr>
              <a:t>34 alerts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46520" y="1508760"/>
            <a:ext cx="2468880" cy="1371600"/>
          </a:xfrm>
          <a:prstGeom prst="roundRect">
            <a:avLst/>
          </a:prstGeom>
          <a:solidFill>
            <a:srgbClr val="102035"/>
          </a:solidFill>
          <a:ln>
            <a:solidFill>
              <a:srgbClr val="24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46520" y="1655063"/>
            <a:ext cx="54864" cy="1078992"/>
          </a:xfrm>
          <a:prstGeom prst="rect">
            <a:avLst/>
          </a:prstGeom>
          <a:solidFill>
            <a:srgbClr val="FFD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47688" y="1673351"/>
            <a:ext cx="21031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FD241"/>
                </a:solidFill>
                <a:latin typeface="Aptos"/>
              </a:rPr>
              <a:t>MEDIUM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47688" y="2075688"/>
            <a:ext cx="2084832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F0F6FC"/>
                </a:solidFill>
                <a:latin typeface="Aptos"/>
              </a:rPr>
              <a:t>67 alerts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81160" y="1508760"/>
            <a:ext cx="2468880" cy="1371600"/>
          </a:xfrm>
          <a:prstGeom prst="roundRect">
            <a:avLst/>
          </a:prstGeom>
          <a:solidFill>
            <a:srgbClr val="102035"/>
          </a:solidFill>
          <a:ln>
            <a:solidFill>
              <a:srgbClr val="24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281160" y="1655063"/>
            <a:ext cx="54864" cy="1078992"/>
          </a:xfrm>
          <a:prstGeom prst="rect">
            <a:avLst/>
          </a:prstGeom>
          <a:solidFill>
            <a:srgbClr val="37C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82328" y="1673351"/>
            <a:ext cx="21031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37C991"/>
                </a:solidFill>
                <a:latin typeface="Aptos"/>
              </a:rPr>
              <a:t>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82328" y="2075688"/>
            <a:ext cx="2084832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F0F6FC"/>
                </a:solidFill>
                <a:latin typeface="Aptos"/>
              </a:rPr>
              <a:t>43 alerts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3429000"/>
            <a:ext cx="457200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F0F6FC"/>
                </a:solidFill>
                <a:latin typeface="Aptos"/>
              </a:rPr>
              <a:t>What the distribution suggests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3886200"/>
            <a:ext cx="5577840" cy="182880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F0F6FC"/>
                </a:solidFill>
                <a:latin typeface="Aptos"/>
              </a:defRPr>
            </a:pPr>
            <a:r>
              <a:t>•  Medium alerts form the largest group in this snapshot.</a:t>
            </a:r>
          </a:p>
          <a:p>
            <a:pPr>
              <a:spcAft>
                <a:spcPts val="900"/>
              </a:spcAft>
              <a:defRPr sz="1500">
                <a:solidFill>
                  <a:srgbClr val="F0F6FC"/>
                </a:solidFill>
                <a:latin typeface="Aptos"/>
              </a:defRPr>
            </a:pPr>
            <a:r>
              <a:t>•  Critical and high alerts should be reviewed promptly, with asset and event context.</a:t>
            </a:r>
          </a:p>
          <a:p>
            <a:pPr>
              <a:spcAft>
                <a:spcPts val="900"/>
              </a:spcAft>
              <a:defRPr sz="1500">
                <a:solidFill>
                  <a:srgbClr val="F0F6FC"/>
                </a:solidFill>
                <a:latin typeface="Aptos"/>
              </a:defRPr>
            </a:pPr>
            <a:r>
              <a:t>•  Severity is a triage signal; it does not independently prove compromise.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903720" y="3520440"/>
            <a:ext cx="4069080" cy="1645920"/>
          </a:xfrm>
          <a:prstGeom prst="roundRect">
            <a:avLst/>
          </a:prstGeom>
          <a:solidFill>
            <a:srgbClr val="102035"/>
          </a:solidFill>
          <a:ln>
            <a:solidFill>
              <a:srgbClr val="24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903720" y="3666744"/>
            <a:ext cx="54864" cy="1353312"/>
          </a:xfrm>
          <a:prstGeom prst="rect">
            <a:avLst/>
          </a:prstGeom>
          <a:solidFill>
            <a:srgbClr val="24B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04888" y="3685032"/>
            <a:ext cx="37033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24BEE6"/>
                </a:solidFill>
                <a:latin typeface="Aptos"/>
              </a:rPr>
              <a:t>ANALYST CHECK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04888" y="4087368"/>
            <a:ext cx="3685032" cy="9601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F0F6FC"/>
                </a:solidFill>
                <a:latin typeface="Aptos"/>
              </a:rPr>
              <a:t>Confirm event details, repetition, affected asset, and whether the activity was expected.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F0F6FC"/>
                </a:solidFill>
                <a:latin typeface="Aptos"/>
              </a:rPr>
              <a:t>Endpoint Onboarding &amp; Connectivity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87552"/>
            <a:ext cx="1051560" cy="50292"/>
          </a:xfrm>
          <a:prstGeom prst="rect">
            <a:avLst/>
          </a:prstGeom>
          <a:solidFill>
            <a:srgbClr val="24B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281160" y="438912"/>
            <a:ext cx="22860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>
                <a:solidFill>
                  <a:srgbClr val="24BEE6"/>
                </a:solidFill>
                <a:latin typeface="Aptos"/>
              </a:rPr>
              <a:t>ENDPOINT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547104"/>
            <a:ext cx="109728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A5B7CC"/>
                </a:solidFill>
                <a:latin typeface="Aptos"/>
              </a:rPr>
              <a:t>WEEK 10  •  SOC MONITORING                                      09 /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5212080" cy="329184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spcAft>
                <a:spcPts val="1300"/>
              </a:spcAft>
              <a:defRPr sz="1700">
                <a:solidFill>
                  <a:srgbClr val="F0F6FC"/>
                </a:solidFill>
                <a:latin typeface="Aptos"/>
              </a:defRPr>
            </a:pPr>
            <a:r>
              <a:t>•  Install the compatible Wazuh Agent on an authorized Windows/Linux endpoint.</a:t>
            </a:r>
          </a:p>
          <a:p>
            <a:pPr>
              <a:spcAft>
                <a:spcPts val="1300"/>
              </a:spcAft>
              <a:defRPr sz="1700">
                <a:solidFill>
                  <a:srgbClr val="F0F6FC"/>
                </a:solidFill>
                <a:latin typeface="Aptos"/>
              </a:defRPr>
            </a:pPr>
            <a:r>
              <a:t>•  Configure the Wazuh Manager address and start the agent service.</a:t>
            </a:r>
          </a:p>
          <a:p>
            <a:pPr>
              <a:spcAft>
                <a:spcPts val="1300"/>
              </a:spcAft>
              <a:defRPr sz="1700">
                <a:solidFill>
                  <a:srgbClr val="F0F6FC"/>
                </a:solidFill>
                <a:latin typeface="Aptos"/>
              </a:defRPr>
            </a:pPr>
            <a:r>
              <a:t>•  Confirm the agent appears as Active in the Dashboard.</a:t>
            </a:r>
          </a:p>
          <a:p>
            <a:pPr>
              <a:spcAft>
                <a:spcPts val="1300"/>
              </a:spcAft>
              <a:defRPr sz="1700">
                <a:solidFill>
                  <a:srgbClr val="F0F6FC"/>
                </a:solidFill>
                <a:latin typeface="Aptos"/>
              </a:defRPr>
            </a:pPr>
            <a:r>
              <a:t>•  Validate event visibility; a running service alone does not prove end-to-end delivery.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40196" y="1293876"/>
            <a:ext cx="5276088" cy="3538727"/>
          </a:xfrm>
          <a:prstGeom prst="roundRect">
            <a:avLst/>
          </a:prstGeom>
          <a:solidFill>
            <a:srgbClr val="162B44"/>
          </a:solidFill>
          <a:ln>
            <a:solidFill>
              <a:srgbClr val="324B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325880"/>
            <a:ext cx="5212079" cy="34747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22960" y="5029200"/>
            <a:ext cx="10424160" cy="822960"/>
          </a:xfrm>
          <a:prstGeom prst="roundRect">
            <a:avLst/>
          </a:prstGeom>
          <a:solidFill>
            <a:srgbClr val="102035"/>
          </a:solidFill>
          <a:ln>
            <a:solidFill>
              <a:srgbClr val="24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5175504"/>
            <a:ext cx="54864" cy="530352"/>
          </a:xfrm>
          <a:prstGeom prst="rect">
            <a:avLst/>
          </a:prstGeom>
          <a:solidFill>
            <a:srgbClr val="2D7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5193792"/>
            <a:ext cx="100584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2D7CEB"/>
                </a:solidFill>
                <a:latin typeface="Aptos"/>
              </a:rPr>
              <a:t>TROUBLESHOOTING CHECKLIST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5596128"/>
            <a:ext cx="10040112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F0F6FC"/>
                </a:solidFill>
                <a:latin typeface="Aptos"/>
              </a:rPr>
              <a:t>Manager IP • VM network • agent service • enrollment • firewall • configuration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F0F6FC"/>
                </a:solidFill>
                <a:latin typeface="Aptos"/>
              </a:rPr>
              <a:t>Controlled Security Event Validation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87552"/>
            <a:ext cx="1051560" cy="50292"/>
          </a:xfrm>
          <a:prstGeom prst="rect">
            <a:avLst/>
          </a:prstGeom>
          <a:solidFill>
            <a:srgbClr val="24B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281160" y="438912"/>
            <a:ext cx="22860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>
                <a:solidFill>
                  <a:srgbClr val="24BEE6"/>
                </a:solidFill>
                <a:latin typeface="Aptos"/>
              </a:rPr>
              <a:t>TELEMETRY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547104"/>
            <a:ext cx="109728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A5B7CC"/>
                </a:solidFill>
                <a:latin typeface="Aptos"/>
              </a:rPr>
              <a:t>WEEK 10  •  SOC MONITORING                                      10 / 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371600"/>
            <a:ext cx="2148840" cy="749808"/>
          </a:xfrm>
          <a:prstGeom prst="roundRect">
            <a:avLst/>
          </a:prstGeom>
          <a:solidFill>
            <a:srgbClr val="102035"/>
          </a:solidFill>
          <a:ln>
            <a:solidFill>
              <a:srgbClr val="24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517904"/>
            <a:ext cx="54864" cy="457199"/>
          </a:xfrm>
          <a:prstGeom prst="rect">
            <a:avLst/>
          </a:prstGeom>
          <a:solidFill>
            <a:srgbClr val="24B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1536192"/>
            <a:ext cx="17830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24BEE6"/>
                </a:solidFill>
                <a:latin typeface="Aptos"/>
              </a:rPr>
              <a:t>Failed login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1938528"/>
            <a:ext cx="1764792" cy="64007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F0F6FC"/>
                </a:solidFill>
                <a:latin typeface="Aptos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54680" y="1481328"/>
            <a:ext cx="3749039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F0F6FC"/>
                </a:solidFill>
                <a:latin typeface="Aptos"/>
              </a:rPr>
              <a:t>Limited incorrect attempts on a test account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1481328"/>
            <a:ext cx="32004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24BEE6"/>
                </a:solidFill>
                <a:latin typeface="Aptos"/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0" y="1481328"/>
            <a:ext cx="384048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A5B7CC"/>
                </a:solidFill>
                <a:latin typeface="Aptos"/>
              </a:rPr>
              <a:t>Authentication failure telemetry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2377440"/>
            <a:ext cx="2148840" cy="749808"/>
          </a:xfrm>
          <a:prstGeom prst="roundRect">
            <a:avLst/>
          </a:prstGeom>
          <a:solidFill>
            <a:srgbClr val="102035"/>
          </a:solidFill>
          <a:ln>
            <a:solidFill>
              <a:srgbClr val="24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2523744"/>
            <a:ext cx="54864" cy="457199"/>
          </a:xfrm>
          <a:prstGeom prst="rect">
            <a:avLst/>
          </a:prstGeom>
          <a:solidFill>
            <a:srgbClr val="24B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" y="2542032"/>
            <a:ext cx="17830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24BEE6"/>
                </a:solidFill>
                <a:latin typeface="Aptos"/>
              </a:rPr>
              <a:t>Successful login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" y="2944368"/>
            <a:ext cx="1764792" cy="64007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F0F6FC"/>
                </a:solidFill>
                <a:latin typeface="Aptos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54680" y="2487168"/>
            <a:ext cx="3749039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F0F6FC"/>
                </a:solidFill>
                <a:latin typeface="Aptos"/>
              </a:rPr>
              <a:t>Normal test-account login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2487168"/>
            <a:ext cx="32004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24BEE6"/>
                </a:solidFill>
                <a:latin typeface="Aptos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2487168"/>
            <a:ext cx="384048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A5B7CC"/>
                </a:solidFill>
                <a:latin typeface="Aptos"/>
              </a:rPr>
              <a:t>Expected baseline event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3383280"/>
            <a:ext cx="2148840" cy="749808"/>
          </a:xfrm>
          <a:prstGeom prst="roundRect">
            <a:avLst/>
          </a:prstGeom>
          <a:solidFill>
            <a:srgbClr val="102035"/>
          </a:solidFill>
          <a:ln>
            <a:solidFill>
              <a:srgbClr val="24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3529584"/>
            <a:ext cx="54864" cy="457199"/>
          </a:xfrm>
          <a:prstGeom prst="rect">
            <a:avLst/>
          </a:prstGeom>
          <a:solidFill>
            <a:srgbClr val="24B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8408" y="3547872"/>
            <a:ext cx="17830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24BEE6"/>
                </a:solidFill>
                <a:latin typeface="Aptos"/>
              </a:rPr>
              <a:t>File change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8408" y="3950208"/>
            <a:ext cx="1764792" cy="64007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F0F6FC"/>
                </a:solidFill>
                <a:latin typeface="Aptos"/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54680" y="3493008"/>
            <a:ext cx="3749039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F0F6FC"/>
                </a:solidFill>
                <a:latin typeface="Aptos"/>
              </a:rPr>
              <a:t>Create/edit a harmless test file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3493008"/>
            <a:ext cx="32004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24BEE6"/>
                </a:solidFill>
                <a:latin typeface="Aptos"/>
              </a:rP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06640" y="3493008"/>
            <a:ext cx="384048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A5B7CC"/>
                </a:solidFill>
                <a:latin typeface="Aptos"/>
              </a:rPr>
              <a:t>FIM event, if configured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4389120"/>
            <a:ext cx="2148840" cy="749808"/>
          </a:xfrm>
          <a:prstGeom prst="roundRect">
            <a:avLst/>
          </a:prstGeom>
          <a:solidFill>
            <a:srgbClr val="102035"/>
          </a:solidFill>
          <a:ln>
            <a:solidFill>
              <a:srgbClr val="24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535424"/>
            <a:ext cx="54864" cy="457199"/>
          </a:xfrm>
          <a:prstGeom prst="rect">
            <a:avLst/>
          </a:prstGeom>
          <a:solidFill>
            <a:srgbClr val="24B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78408" y="4553712"/>
            <a:ext cx="17830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24BEE6"/>
                </a:solidFill>
                <a:latin typeface="Aptos"/>
              </a:rPr>
              <a:t>Network activity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8408" y="4956048"/>
            <a:ext cx="1764792" cy="64007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F0F6FC"/>
                </a:solidFill>
                <a:latin typeface="Aptos"/>
              </a:rPr>
              <a:t/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54680" y="4498848"/>
            <a:ext cx="3749039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F0F6FC"/>
                </a:solidFill>
                <a:latin typeface="Aptos"/>
              </a:rPr>
              <a:t>Authorized lab traffic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0" y="4498848"/>
            <a:ext cx="32004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24BEE6"/>
                </a:solidFill>
                <a:latin typeface="Aptos"/>
              </a:rPr>
              <a:t>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06640" y="4498848"/>
            <a:ext cx="384048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A5B7CC"/>
                </a:solidFill>
                <a:latin typeface="Aptos"/>
              </a:rPr>
              <a:t>Available network/security telemetry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5669280"/>
            <a:ext cx="1051560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0F6FC"/>
                </a:solidFill>
                <a:latin typeface="Aptos"/>
              </a:rPr>
              <a:t>Controlled events create a known baseline and help distinguish missing telemetry from an absence of activity.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F0F6FC"/>
                </a:solidFill>
                <a:latin typeface="Aptos"/>
              </a:rPr>
              <a:t>SOC Alert Investigation Method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87552"/>
            <a:ext cx="1051560" cy="50292"/>
          </a:xfrm>
          <a:prstGeom prst="rect">
            <a:avLst/>
          </a:prstGeom>
          <a:solidFill>
            <a:srgbClr val="24B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281160" y="438912"/>
            <a:ext cx="22860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>
                <a:solidFill>
                  <a:srgbClr val="24BEE6"/>
                </a:solidFill>
                <a:latin typeface="Aptos"/>
              </a:rPr>
              <a:t>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547104"/>
            <a:ext cx="109728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A5B7CC"/>
                </a:solidFill>
                <a:latin typeface="Aptos"/>
              </a:rPr>
              <a:t>WEEK 10  •  SOC MONITORING                                      11 / 15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1325880"/>
            <a:ext cx="502920" cy="502920"/>
          </a:xfrm>
          <a:prstGeom prst="ellipse">
            <a:avLst/>
          </a:prstGeom>
          <a:solidFill>
            <a:srgbClr val="24B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399032"/>
            <a:ext cx="5029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081222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1344168"/>
            <a:ext cx="20574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0F6FC"/>
                </a:solidFill>
                <a:latin typeface="Aptos"/>
              </a:rPr>
              <a:t>IDENTIFY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03320" y="1344168"/>
            <a:ext cx="713232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A5B7CC"/>
                </a:solidFill>
                <a:latin typeface="Aptos"/>
              </a:rPr>
              <a:t>Alert ID, agent, rule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2258568"/>
            <a:ext cx="502920" cy="502920"/>
          </a:xfrm>
          <a:prstGeom prst="ellipse">
            <a:avLst/>
          </a:prstGeom>
          <a:solidFill>
            <a:srgbClr val="2D7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331720"/>
            <a:ext cx="5029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081222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2276856"/>
            <a:ext cx="20574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0F6FC"/>
                </a:solidFill>
                <a:latin typeface="Aptos"/>
              </a:rPr>
              <a:t>TIMELINE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2276856"/>
            <a:ext cx="713232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A5B7CC"/>
                </a:solidFill>
                <a:latin typeface="Aptos"/>
              </a:rPr>
              <a:t>Exact timestamp and nearby events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3191256"/>
            <a:ext cx="502920" cy="502920"/>
          </a:xfrm>
          <a:prstGeom prst="ellipse">
            <a:avLst/>
          </a:prstGeom>
          <a:solidFill>
            <a:srgbClr val="9C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264408"/>
            <a:ext cx="5029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081222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3209544"/>
            <a:ext cx="20574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0F6FC"/>
                </a:solidFill>
                <a:latin typeface="Aptos"/>
              </a:rPr>
              <a:t>EXAMINE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3209544"/>
            <a:ext cx="713232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A5B7CC"/>
                </a:solidFill>
                <a:latin typeface="Aptos"/>
              </a:rPr>
              <a:t>Source, destination, user, process, file</a:t>
            </a:r>
          </a:p>
        </p:txBody>
      </p:sp>
      <p:sp>
        <p:nvSpPr>
          <p:cNvPr id="18" name="Oval 17"/>
          <p:cNvSpPr/>
          <p:nvPr/>
        </p:nvSpPr>
        <p:spPr>
          <a:xfrm>
            <a:off x="822960" y="4123944"/>
            <a:ext cx="502920" cy="502920"/>
          </a:xfrm>
          <a:prstGeom prst="ellipse">
            <a:avLst/>
          </a:prstGeom>
          <a:solidFill>
            <a:srgbClr val="FFB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197096"/>
            <a:ext cx="5029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081222"/>
                </a:solidFill>
                <a:latin typeface="Aptos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4142231"/>
            <a:ext cx="20574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0F6FC"/>
                </a:solidFill>
                <a:latin typeface="Aptos"/>
              </a:rPr>
              <a:t>ASSESS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03320" y="4142231"/>
            <a:ext cx="713232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A5B7CC"/>
                </a:solidFill>
                <a:latin typeface="Aptos"/>
              </a:rPr>
              <a:t>Expected, suspicious, or confirmed malicious</a:t>
            </a:r>
          </a:p>
        </p:txBody>
      </p:sp>
      <p:sp>
        <p:nvSpPr>
          <p:cNvPr id="22" name="Oval 21"/>
          <p:cNvSpPr/>
          <p:nvPr/>
        </p:nvSpPr>
        <p:spPr>
          <a:xfrm>
            <a:off x="822960" y="5056632"/>
            <a:ext cx="502920" cy="502920"/>
          </a:xfrm>
          <a:prstGeom prst="ellipse">
            <a:avLst/>
          </a:prstGeom>
          <a:solidFill>
            <a:srgbClr val="37C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5129784"/>
            <a:ext cx="5029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081222"/>
                </a:solidFill>
                <a:latin typeface="Aptos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00200" y="5074920"/>
            <a:ext cx="20574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0F6FC"/>
                </a:solidFill>
                <a:latin typeface="Aptos"/>
              </a:rPr>
              <a:t>ACT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03320" y="5074920"/>
            <a:ext cx="713232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A5B7CC"/>
                </a:solidFill>
                <a:latin typeface="Aptos"/>
              </a:rPr>
              <a:t>Escalate, contain, recover, document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6172200"/>
            <a:ext cx="10515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24BEE6"/>
                </a:solidFill>
                <a:latin typeface="Aptos"/>
              </a:rPr>
              <a:t>Good triage is evidence-led: explain why an alert matters and what should happen next.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F0F6FC"/>
                </a:solidFill>
                <a:latin typeface="Aptos"/>
              </a:rPr>
              <a:t>Case Study: Nmap Scripting Engine Detection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87552"/>
            <a:ext cx="1051560" cy="50292"/>
          </a:xfrm>
          <a:prstGeom prst="rect">
            <a:avLst/>
          </a:prstGeom>
          <a:solidFill>
            <a:srgbClr val="24B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281160" y="438912"/>
            <a:ext cx="22860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>
                <a:solidFill>
                  <a:srgbClr val="24BEE6"/>
                </a:solidFill>
                <a:latin typeface="Aptos"/>
              </a:rPr>
              <a:t>CASE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547104"/>
            <a:ext cx="109728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A5B7CC"/>
                </a:solidFill>
                <a:latin typeface="Aptos"/>
              </a:rPr>
              <a:t>WEEK 10  •  SOC MONITORING                                      12 /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298448"/>
            <a:ext cx="106984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FF5B69"/>
                </a:solidFill>
                <a:latin typeface="Aptos"/>
              </a:rPr>
              <a:t>ET SCAN Nmap Scripting Engine User-Agent Detected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74519"/>
            <a:ext cx="3200400" cy="1097280"/>
          </a:xfrm>
          <a:prstGeom prst="roundRect">
            <a:avLst/>
          </a:prstGeom>
          <a:solidFill>
            <a:srgbClr val="102035"/>
          </a:solidFill>
          <a:ln>
            <a:solidFill>
              <a:srgbClr val="24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020824"/>
            <a:ext cx="54864" cy="804671"/>
          </a:xfrm>
          <a:prstGeom prst="rect">
            <a:avLst/>
          </a:prstGeom>
          <a:solidFill>
            <a:srgbClr val="24B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039112"/>
            <a:ext cx="28346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24BEE6"/>
                </a:solidFill>
                <a:latin typeface="Aptos"/>
              </a:rPr>
              <a:t>RULE 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2441448"/>
            <a:ext cx="2816352" cy="41147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F0F6FC"/>
                </a:solidFill>
                <a:latin typeface="Aptos"/>
              </a:rPr>
              <a:t>2100498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1874519"/>
            <a:ext cx="3200400" cy="1097280"/>
          </a:xfrm>
          <a:prstGeom prst="roundRect">
            <a:avLst/>
          </a:prstGeom>
          <a:solidFill>
            <a:srgbClr val="102035"/>
          </a:solidFill>
          <a:ln>
            <a:solidFill>
              <a:srgbClr val="24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51960" y="2020824"/>
            <a:ext cx="54864" cy="804671"/>
          </a:xfrm>
          <a:prstGeom prst="rect">
            <a:avLst/>
          </a:prstGeom>
          <a:solidFill>
            <a:srgbClr val="FFB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53128" y="2039112"/>
            <a:ext cx="28346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FB84D"/>
                </a:solidFill>
                <a:latin typeface="Aptos"/>
              </a:rPr>
              <a:t>SEVERITY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53128" y="2441448"/>
            <a:ext cx="2816352" cy="41147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F0F6FC"/>
                </a:solidFill>
                <a:latin typeface="Aptos"/>
              </a:rPr>
              <a:t>Level 4 • Medium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26679" y="1874519"/>
            <a:ext cx="3200400" cy="1097280"/>
          </a:xfrm>
          <a:prstGeom prst="roundRect">
            <a:avLst/>
          </a:prstGeom>
          <a:solidFill>
            <a:srgbClr val="102035"/>
          </a:solidFill>
          <a:ln>
            <a:solidFill>
              <a:srgbClr val="24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26679" y="2020824"/>
            <a:ext cx="54864" cy="804671"/>
          </a:xfrm>
          <a:prstGeom prst="rect">
            <a:avLst/>
          </a:prstGeom>
          <a:solidFill>
            <a:srgbClr val="2D7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27848" y="2039112"/>
            <a:ext cx="28346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2D7CEB"/>
                </a:solidFill>
                <a:latin typeface="Aptos"/>
              </a:rPr>
              <a:t>ENDPOINT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27848" y="2441448"/>
            <a:ext cx="2816352" cy="41147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F0F6FC"/>
                </a:solidFill>
                <a:latin typeface="Aptos"/>
              </a:rPr>
              <a:t>windows-agent • ID 001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3246120"/>
            <a:ext cx="4937760" cy="1234440"/>
          </a:xfrm>
          <a:prstGeom prst="roundRect">
            <a:avLst/>
          </a:prstGeom>
          <a:solidFill>
            <a:srgbClr val="102035"/>
          </a:solidFill>
          <a:ln>
            <a:solidFill>
              <a:srgbClr val="24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3392424"/>
            <a:ext cx="54864" cy="941832"/>
          </a:xfrm>
          <a:prstGeom prst="rect">
            <a:avLst/>
          </a:prstGeom>
          <a:solidFill>
            <a:srgbClr val="24B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8408" y="3410712"/>
            <a:ext cx="45720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24BEE6"/>
                </a:solidFill>
                <a:latin typeface="Aptos"/>
              </a:rPr>
              <a:t>NETWORK EVIDENCE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8408" y="3813048"/>
            <a:ext cx="4553712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F0F6FC"/>
                </a:solidFill>
                <a:latin typeface="Aptos"/>
              </a:rPr>
              <a:t>Source: 192.168.56.1
Destination: 192.168.56.11:80/TCP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80760" y="3246120"/>
            <a:ext cx="4846320" cy="1234440"/>
          </a:xfrm>
          <a:prstGeom prst="roundRect">
            <a:avLst/>
          </a:prstGeom>
          <a:solidFill>
            <a:srgbClr val="102035"/>
          </a:solidFill>
          <a:ln>
            <a:solidFill>
              <a:srgbClr val="24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080760" y="3392424"/>
            <a:ext cx="54864" cy="941832"/>
          </a:xfrm>
          <a:prstGeom prst="rect">
            <a:avLst/>
          </a:prstGeom>
          <a:solidFill>
            <a:srgbClr val="9C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81928" y="3410712"/>
            <a:ext cx="4480559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9C78FF"/>
                </a:solidFill>
                <a:latin typeface="Aptos"/>
              </a:rPr>
              <a:t>INITIAL ASSESSMENT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81928" y="3813048"/>
            <a:ext cx="4462272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F0F6FC"/>
                </a:solidFill>
                <a:latin typeface="Aptos"/>
              </a:rPr>
              <a:t>Consistent with possible network reconnaissance; alert alone does not prove compromise.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074920"/>
            <a:ext cx="103327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A5B7CC"/>
                </a:solidFill>
                <a:latin typeface="Aptos"/>
              </a:rPr>
              <a:t>Timestamp shown in alert: Oct 2, 2026 • 12:32:18.441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5532120"/>
            <a:ext cx="105156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F0F6FC"/>
                </a:solidFill>
                <a:latin typeface="Aptos"/>
              </a:rPr>
              <a:t>First confirm whether the scan was authorized, then correlate with related events and logs.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F0F6FC"/>
                </a:solidFill>
                <a:latin typeface="Aptos"/>
              </a:rPr>
              <a:t>Snort + Wazuh: Evidence Correlation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87552"/>
            <a:ext cx="1051560" cy="50292"/>
          </a:xfrm>
          <a:prstGeom prst="rect">
            <a:avLst/>
          </a:prstGeom>
          <a:solidFill>
            <a:srgbClr val="24B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281160" y="438912"/>
            <a:ext cx="22860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>
                <a:solidFill>
                  <a:srgbClr val="24BEE6"/>
                </a:solidFill>
                <a:latin typeface="Aptos"/>
              </a:rPr>
              <a:t>CORRELATION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547104"/>
            <a:ext cx="109728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A5B7CC"/>
                </a:solidFill>
                <a:latin typeface="Aptos"/>
              </a:rPr>
              <a:t>WEEK 10  •  SOC MONITORING                                      13 / 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66360" cy="1828800"/>
          </a:xfrm>
          <a:prstGeom prst="roundRect">
            <a:avLst/>
          </a:prstGeom>
          <a:solidFill>
            <a:srgbClr val="102035"/>
          </a:solidFill>
          <a:ln>
            <a:solidFill>
              <a:srgbClr val="24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17904"/>
            <a:ext cx="54864" cy="1536192"/>
          </a:xfrm>
          <a:prstGeom prst="rect">
            <a:avLst/>
          </a:prstGeom>
          <a:solidFill>
            <a:srgbClr val="24B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536192"/>
            <a:ext cx="48006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24BEE6"/>
                </a:solidFill>
                <a:latin typeface="Aptos"/>
              </a:rPr>
              <a:t>SNORT / NETWORK 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1938528"/>
            <a:ext cx="4782312" cy="11430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F0F6FC"/>
                </a:solidFill>
                <a:latin typeface="Aptos"/>
              </a:rPr>
              <a:t>Signature: ET SCAN Nmap Scripting Engine User-Agent Detected
Source → destination: 192.168.56.1 → 192.168.56.11:80/TCP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166360" cy="1828800"/>
          </a:xfrm>
          <a:prstGeom prst="roundRect">
            <a:avLst/>
          </a:prstGeom>
          <a:solidFill>
            <a:srgbClr val="102035"/>
          </a:solidFill>
          <a:ln>
            <a:solidFill>
              <a:srgbClr val="24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517904"/>
            <a:ext cx="54864" cy="1536192"/>
          </a:xfrm>
          <a:prstGeom prst="rect">
            <a:avLst/>
          </a:prstGeom>
          <a:solidFill>
            <a:srgbClr val="9C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1536192"/>
            <a:ext cx="48006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9C78FF"/>
                </a:solidFill>
                <a:latin typeface="Aptos"/>
              </a:rPr>
              <a:t>WAZUH / ENDPOINT 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1938528"/>
            <a:ext cx="4782312" cy="11430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F0F6FC"/>
                </a:solidFill>
                <a:latin typeface="Aptos"/>
              </a:rPr>
              <a:t>Agent: windows-agent (001)
Review timestamp, rule, host, and nearby endpoint events.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703320"/>
            <a:ext cx="457200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F0F6FC"/>
                </a:solidFill>
                <a:latin typeface="Aptos"/>
              </a:rPr>
              <a:t>Correlation confidence requires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160520"/>
            <a:ext cx="5120640" cy="164592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F0F6FC"/>
                </a:solidFill>
                <a:latin typeface="Aptos"/>
              </a:defRPr>
            </a:pPr>
            <a:r>
              <a:t>•  Matching timestamps within a justified time window</a:t>
            </a:r>
          </a:p>
          <a:p>
            <a:pPr>
              <a:spcAft>
                <a:spcPts val="900"/>
              </a:spcAft>
              <a:defRPr sz="1500">
                <a:solidFill>
                  <a:srgbClr val="F0F6FC"/>
                </a:solidFill>
                <a:latin typeface="Aptos"/>
              </a:defRPr>
            </a:pPr>
            <a:r>
              <a:t>•  Consistent source/destination or affected host</a:t>
            </a:r>
          </a:p>
          <a:p>
            <a:pPr>
              <a:spcAft>
                <a:spcPts val="900"/>
              </a:spcAft>
              <a:defRPr sz="1500">
                <a:solidFill>
                  <a:srgbClr val="F0F6FC"/>
                </a:solidFill>
                <a:latin typeface="Aptos"/>
              </a:defRPr>
            </a:pPr>
            <a:r>
              <a:t>•  Compatible event context and original log evidence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3840480"/>
            <a:ext cx="4572000" cy="1417320"/>
          </a:xfrm>
          <a:prstGeom prst="roundRect">
            <a:avLst/>
          </a:prstGeom>
          <a:solidFill>
            <a:srgbClr val="102035"/>
          </a:solidFill>
          <a:ln>
            <a:solidFill>
              <a:srgbClr val="24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0" y="3986784"/>
            <a:ext cx="54864" cy="1124712"/>
          </a:xfrm>
          <a:prstGeom prst="rect">
            <a:avLst/>
          </a:prstGeom>
          <a:solidFill>
            <a:srgbClr val="FFB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01968" y="4005072"/>
            <a:ext cx="42062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FB84D"/>
                </a:solidFill>
                <a:latin typeface="Aptos"/>
              </a:rPr>
              <a:t>CURRENT CONCLUSION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1968" y="4407408"/>
            <a:ext cx="4187952" cy="7315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F0F6FC"/>
                </a:solidFill>
                <a:latin typeface="Aptos"/>
              </a:rPr>
              <a:t>Evidence is consistent with possible Nmap reconnaissance. Confirm exact Wazuh event timestamp before claiming verified correlation.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F0F6FC"/>
                </a:solidFill>
                <a:latin typeface="Aptos"/>
              </a:rPr>
              <a:t>Response Recommendations &amp; Lessons Learned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87552"/>
            <a:ext cx="1051560" cy="50292"/>
          </a:xfrm>
          <a:prstGeom prst="rect">
            <a:avLst/>
          </a:prstGeom>
          <a:solidFill>
            <a:srgbClr val="24B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281160" y="438912"/>
            <a:ext cx="22860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>
                <a:solidFill>
                  <a:srgbClr val="24BEE6"/>
                </a:solidFill>
                <a:latin typeface="Aptos"/>
              </a:rPr>
              <a:t>RESPONSE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547104"/>
            <a:ext cx="109728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A5B7CC"/>
                </a:solidFill>
                <a:latin typeface="Aptos"/>
              </a:rPr>
              <a:t>WEEK 10  •  SOC MONITORING                                      14 / 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3429000" cy="1828800"/>
          </a:xfrm>
          <a:prstGeom prst="roundRect">
            <a:avLst/>
          </a:prstGeom>
          <a:solidFill>
            <a:srgbClr val="102035"/>
          </a:solidFill>
          <a:ln>
            <a:solidFill>
              <a:srgbClr val="24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63624"/>
            <a:ext cx="54864" cy="1536192"/>
          </a:xfrm>
          <a:prstGeom prst="rect">
            <a:avLst/>
          </a:prstGeom>
          <a:solidFill>
            <a:srgbClr val="FF5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581912"/>
            <a:ext cx="30632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F5B69"/>
                </a:solidFill>
                <a:latin typeface="Aptos"/>
              </a:rPr>
              <a:t>CONTAIN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1984248"/>
            <a:ext cx="3044952" cy="11430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F0F6FC"/>
                </a:solidFill>
                <a:latin typeface="Aptos"/>
              </a:rPr>
              <a:t>Verify authorization. If unauthorized, follow lab policy to isolate the source or block suspicious traffic.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417320"/>
            <a:ext cx="3429000" cy="1828800"/>
          </a:xfrm>
          <a:prstGeom prst="roundRect">
            <a:avLst/>
          </a:prstGeom>
          <a:solidFill>
            <a:srgbClr val="102035"/>
          </a:solidFill>
          <a:ln>
            <a:solidFill>
              <a:srgbClr val="24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563624"/>
            <a:ext cx="54864" cy="1536192"/>
          </a:xfrm>
          <a:prstGeom prst="rect">
            <a:avLst/>
          </a:prstGeom>
          <a:solidFill>
            <a:srgbClr val="37C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1581912"/>
            <a:ext cx="30632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37C991"/>
                </a:solidFill>
                <a:latin typeface="Aptos"/>
              </a:rPr>
              <a:t>RECOVER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1984248"/>
            <a:ext cx="3044952" cy="11430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F0F6FC"/>
                </a:solidFill>
                <a:latin typeface="Aptos"/>
              </a:rPr>
              <a:t>Confirm the scan stopped; review affected services and related alerts; restore normal operations if impacted.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417320"/>
            <a:ext cx="3429000" cy="1828800"/>
          </a:xfrm>
          <a:prstGeom prst="roundRect">
            <a:avLst/>
          </a:prstGeom>
          <a:solidFill>
            <a:srgbClr val="102035"/>
          </a:solidFill>
          <a:ln>
            <a:solidFill>
              <a:srgbClr val="24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563624"/>
            <a:ext cx="54864" cy="1536192"/>
          </a:xfrm>
          <a:prstGeom prst="rect">
            <a:avLst/>
          </a:prstGeom>
          <a:solidFill>
            <a:srgbClr val="24B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7888" y="1581912"/>
            <a:ext cx="30632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24BEE6"/>
                </a:solidFill>
                <a:latin typeface="Aptos"/>
              </a:rPr>
              <a:t>IMPROVE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1984248"/>
            <a:ext cx="3044952" cy="11430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F0F6FC"/>
                </a:solidFill>
                <a:latin typeface="Aptos"/>
              </a:rPr>
              <a:t>Monitor repeated scans, reduce unnecessary exposure, maintain detection rules, and document decisions.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840480"/>
            <a:ext cx="548640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F0F6FC"/>
                </a:solidFill>
                <a:latin typeface="Aptos"/>
              </a:rPr>
              <a:t>Lessons for a junior SOC analyst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343400"/>
            <a:ext cx="10424160" cy="146304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0F6FC"/>
                </a:solidFill>
                <a:latin typeface="Aptos"/>
              </a:defRPr>
            </a:pPr>
            <a:r>
              <a:t>•  Do not treat every alert as an incident.</a:t>
            </a:r>
          </a:p>
          <a:p>
            <a:pPr>
              <a:spcAft>
                <a:spcPts val="1000"/>
              </a:spcAft>
              <a:defRPr sz="1600">
                <a:solidFill>
                  <a:srgbClr val="F0F6FC"/>
                </a:solidFill>
                <a:latin typeface="Aptos"/>
              </a:defRPr>
            </a:pPr>
            <a:r>
              <a:t>•  Use timestamps and supporting fields to validate findings.</a:t>
            </a:r>
          </a:p>
          <a:p>
            <a:pPr>
              <a:spcAft>
                <a:spcPts val="1000"/>
              </a:spcAft>
              <a:defRPr sz="1600">
                <a:solidFill>
                  <a:srgbClr val="F0F6FC"/>
                </a:solidFill>
                <a:latin typeface="Aptos"/>
              </a:defRPr>
            </a:pPr>
            <a:r>
              <a:t>•  Keep live evidence separate from conceptual architecture and generated mockups.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F0F6FC"/>
                </a:solidFill>
                <a:latin typeface="Aptos"/>
              </a:rPr>
              <a:t>Conclusion &amp; Key Takeaways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87552"/>
            <a:ext cx="1051560" cy="50292"/>
          </a:xfrm>
          <a:prstGeom prst="rect">
            <a:avLst/>
          </a:prstGeom>
          <a:solidFill>
            <a:srgbClr val="24B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281160" y="438912"/>
            <a:ext cx="22860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>
                <a:solidFill>
                  <a:srgbClr val="24BEE6"/>
                </a:solidFill>
                <a:latin typeface="Aptos"/>
              </a:rPr>
              <a:t>WRAP-UP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547104"/>
            <a:ext cx="109728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A5B7CC"/>
                </a:solidFill>
                <a:latin typeface="Aptos"/>
              </a:rPr>
              <a:t>WEEK 10  •  SOC MONITORING                                      15 /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71600"/>
            <a:ext cx="1051560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F0F6FC"/>
                </a:solidFill>
                <a:latin typeface="Aptos"/>
              </a:rPr>
              <a:t>A practical SOC workflow turns raw events into defensible decisions.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423160"/>
            <a:ext cx="3337560" cy="1371600"/>
          </a:xfrm>
          <a:prstGeom prst="roundRect">
            <a:avLst/>
          </a:prstGeom>
          <a:solidFill>
            <a:srgbClr val="102035"/>
          </a:solidFill>
          <a:ln>
            <a:solidFill>
              <a:srgbClr val="24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569464"/>
            <a:ext cx="54864" cy="1078992"/>
          </a:xfrm>
          <a:prstGeom prst="rect">
            <a:avLst/>
          </a:prstGeom>
          <a:solidFill>
            <a:srgbClr val="24B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587752"/>
            <a:ext cx="29718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24BEE6"/>
                </a:solidFill>
                <a:latin typeface="Aptos"/>
              </a:rPr>
              <a:t>VISIBILITY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2990088"/>
            <a:ext cx="2953512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F0F6FC"/>
                </a:solidFill>
                <a:latin typeface="Aptos"/>
              </a:rPr>
              <a:t>Agent and dashboard health are prerequisites for trustworthy monitoring.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2423160"/>
            <a:ext cx="3337560" cy="1371600"/>
          </a:xfrm>
          <a:prstGeom prst="roundRect">
            <a:avLst/>
          </a:prstGeom>
          <a:solidFill>
            <a:srgbClr val="102035"/>
          </a:solidFill>
          <a:ln>
            <a:solidFill>
              <a:srgbClr val="24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34840" y="2569464"/>
            <a:ext cx="54864" cy="1078992"/>
          </a:xfrm>
          <a:prstGeom prst="rect">
            <a:avLst/>
          </a:prstGeom>
          <a:solidFill>
            <a:srgbClr val="2D7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36007" y="2587752"/>
            <a:ext cx="29718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2D7CEB"/>
                </a:solidFill>
                <a:latin typeface="Aptos"/>
              </a:rPr>
              <a:t>INVESTIGATION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7" y="2990088"/>
            <a:ext cx="2953512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F0F6FC"/>
                </a:solidFill>
                <a:latin typeface="Aptos"/>
              </a:rPr>
              <a:t>Timestamps, rule IDs, hosts and network fields establish context.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2423160"/>
            <a:ext cx="3337560" cy="1371600"/>
          </a:xfrm>
          <a:prstGeom prst="roundRect">
            <a:avLst/>
          </a:prstGeom>
          <a:solidFill>
            <a:srgbClr val="102035"/>
          </a:solidFill>
          <a:ln>
            <a:solidFill>
              <a:srgbClr val="24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2569464"/>
            <a:ext cx="54864" cy="1078992"/>
          </a:xfrm>
          <a:prstGeom prst="rect">
            <a:avLst/>
          </a:prstGeom>
          <a:solidFill>
            <a:srgbClr val="37C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93608" y="2587752"/>
            <a:ext cx="29718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37C991"/>
                </a:solidFill>
                <a:latin typeface="Aptos"/>
              </a:rPr>
              <a:t>INTEGRITY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3608" y="2990088"/>
            <a:ext cx="2953512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F0F6FC"/>
                </a:solidFill>
                <a:latin typeface="Aptos"/>
              </a:rPr>
              <a:t>Accurate reporting distinguishes observed evidence from assumptions.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572000"/>
            <a:ext cx="20116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B84D"/>
                </a:solidFill>
                <a:latin typeface="Aptos"/>
              </a:rPr>
              <a:t>Final message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983480"/>
            <a:ext cx="1060704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4BEE6"/>
                </a:solidFill>
                <a:latin typeface="Aptos"/>
              </a:rPr>
              <a:t>Detect → Validate → Investigate → Respond → Learn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989320"/>
            <a:ext cx="106070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A5B7CC"/>
                </a:solidFill>
                <a:latin typeface="Aptos"/>
              </a:rPr>
              <a:t>Week 10  |  SOC — Wazuh SIEM Setup &amp; Alert Monitoring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10 — SOC Monitoring with Wazuh SIEM</dc:title>
  <dc:subject>Cyber Security Internship</dc:subject>
  <dc:creator>Cyber Security Internship</dc:creator>
  <cp:keywords>Wazuh, SOC, SIEM, Snort, alert investigation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